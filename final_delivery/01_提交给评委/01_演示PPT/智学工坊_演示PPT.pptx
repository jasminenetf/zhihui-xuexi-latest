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4cb1bed9147db" /><Relationship Type="http://schemas.openxmlformats.org/officeDocument/2006/relationships/extended-properties" Target="/docProps/app.xml" Id="Ra007d66f9df54630" /><Relationship Type="http://schemas.openxmlformats.org/officeDocument/2006/relationships/officeDocument" Target="/ppt/presentation.xml" Id="R636e539edbcc44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c6b35c04c544b3"/>
  </p:sldMasterIdLst>
  <p:notesMasterIdLst>
    <p:notesMasterId xmlns:r="http://schemas.openxmlformats.org/officeDocument/2006/relationships" r:id="Rec027c9d051d43bf"/>
  </p:notesMasterIdLst>
  <p:sldIdLst>
    <p:sldId xmlns:r="http://schemas.openxmlformats.org/officeDocument/2006/relationships" id="256" r:id="R34e33f602ca34be2"/>
    <p:sldId xmlns:r="http://schemas.openxmlformats.org/officeDocument/2006/relationships" id="257" r:id="R6f3e3178f69d48f0"/>
    <p:sldId xmlns:r="http://schemas.openxmlformats.org/officeDocument/2006/relationships" id="258" r:id="R1e4b3e19feb44f37"/>
    <p:sldId xmlns:r="http://schemas.openxmlformats.org/officeDocument/2006/relationships" id="259" r:id="R7d13af95aa134313"/>
    <p:sldId xmlns:r="http://schemas.openxmlformats.org/officeDocument/2006/relationships" id="260" r:id="Rfa8d6a0f46f94610"/>
    <p:sldId xmlns:r="http://schemas.openxmlformats.org/officeDocument/2006/relationships" id="261" r:id="R2e5b37bfd18242ea"/>
    <p:sldId xmlns:r="http://schemas.openxmlformats.org/officeDocument/2006/relationships" id="262" r:id="Rf4bf640262504a04"/>
    <p:sldId xmlns:r="http://schemas.openxmlformats.org/officeDocument/2006/relationships" id="263" r:id="R38c782189dcb43cf"/>
    <p:sldId xmlns:r="http://schemas.openxmlformats.org/officeDocument/2006/relationships" id="264" r:id="R7b25ac49363b4ac8"/>
    <p:sldId xmlns:r="http://schemas.openxmlformats.org/officeDocument/2006/relationships" id="265" r:id="Rd01d0cc6b9fa45ae"/>
    <p:sldId xmlns:r="http://schemas.openxmlformats.org/officeDocument/2006/relationships" id="266" r:id="R7a85d9db89c84d32"/>
    <p:sldId xmlns:r="http://schemas.openxmlformats.org/officeDocument/2006/relationships" id="267" r:id="Rec8a3713d5624db6"/>
    <p:sldId xmlns:r="http://schemas.openxmlformats.org/officeDocument/2006/relationships" id="268" r:id="Re61c7997f9634a7c"/>
    <p:sldId xmlns:r="http://schemas.openxmlformats.org/officeDocument/2006/relationships" id="269" r:id="R8ccc9f9230ae48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eb869a5cfe4bb1" /><Relationship Type="http://schemas.openxmlformats.org/officeDocument/2006/relationships/slideMaster" Target="/ppt/slideMasters/slideMaster1.xml" Id="Rcac6b35c04c544b3" /><Relationship Type="http://schemas.openxmlformats.org/officeDocument/2006/relationships/notesMaster" Target="/ppt/notesMasters/notesMaster1.xml" Id="Rec027c9d051d43bf" /><Relationship Type="http://schemas.openxmlformats.org/officeDocument/2006/relationships/presProps" Target="/ppt/presProps.xml" Id="R967a6d38c57949f3" /><Relationship Type="http://schemas.openxmlformats.org/officeDocument/2006/relationships/viewProps" Target="/ppt/viewProps.xml" Id="Rd94cb10f30774615" /><Relationship Type="http://schemas.openxmlformats.org/officeDocument/2006/relationships/tableStyles" Target="/ppt/tableStyles.xml" Id="R40b50af75f144f63" /><Relationship Type="http://schemas.openxmlformats.org/officeDocument/2006/relationships/slide" Target="/ppt/slides/slide1.xml" Id="R34e33f602ca34be2" /><Relationship Type="http://schemas.openxmlformats.org/officeDocument/2006/relationships/slide" Target="/ppt/slides/slide2.xml" Id="R6f3e3178f69d48f0" /><Relationship Type="http://schemas.openxmlformats.org/officeDocument/2006/relationships/slide" Target="/ppt/slides/slide3.xml" Id="R1e4b3e19feb44f37" /><Relationship Type="http://schemas.openxmlformats.org/officeDocument/2006/relationships/slide" Target="/ppt/slides/slide4.xml" Id="R7d13af95aa134313" /><Relationship Type="http://schemas.openxmlformats.org/officeDocument/2006/relationships/slide" Target="/ppt/slides/slide5.xml" Id="Rfa8d6a0f46f94610" /><Relationship Type="http://schemas.openxmlformats.org/officeDocument/2006/relationships/slide" Target="/ppt/slides/slide6.xml" Id="R2e5b37bfd18242ea" /><Relationship Type="http://schemas.openxmlformats.org/officeDocument/2006/relationships/slide" Target="/ppt/slides/slide7.xml" Id="Rf4bf640262504a04" /><Relationship Type="http://schemas.openxmlformats.org/officeDocument/2006/relationships/slide" Target="/ppt/slides/slide8.xml" Id="R38c782189dcb43cf" /><Relationship Type="http://schemas.openxmlformats.org/officeDocument/2006/relationships/slide" Target="/ppt/slides/slide9.xml" Id="R7b25ac49363b4ac8" /><Relationship Type="http://schemas.openxmlformats.org/officeDocument/2006/relationships/slide" Target="/ppt/slides/slide10.xml" Id="Rd01d0cc6b9fa45ae" /><Relationship Type="http://schemas.openxmlformats.org/officeDocument/2006/relationships/slide" Target="/ppt/slides/slide11.xml" Id="R7a85d9db89c84d32" /><Relationship Type="http://schemas.openxmlformats.org/officeDocument/2006/relationships/slide" Target="/ppt/slides/slide12.xml" Id="Rec8a3713d5624db6" /><Relationship Type="http://schemas.openxmlformats.org/officeDocument/2006/relationships/slide" Target="/ppt/slides/slide13.xml" Id="Re61c7997f9634a7c" /><Relationship Type="http://schemas.openxmlformats.org/officeDocument/2006/relationships/slide" Target="/ppt/slides/slide14.xml" Id="R8ccc9f9230ae48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f59529f5d4b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015146721f4633" /><Relationship Type="http://schemas.openxmlformats.org/officeDocument/2006/relationships/notesMaster" Target="/ppt/notesMasters/notesMaster1.xml" Id="R0ee6880345b240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d09669c3254bd1" /><Relationship Type="http://schemas.openxmlformats.org/officeDocument/2006/relationships/notesMaster" Target="/ppt/notesMasters/notesMaster1.xml" Id="Re5f010f0e7cf46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9e7946705043bc" /><Relationship Type="http://schemas.openxmlformats.org/officeDocument/2006/relationships/notesMaster" Target="/ppt/notesMasters/notesMaster1.xml" Id="R9096e3f14fd942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db9b2287d4b37" /><Relationship Type="http://schemas.openxmlformats.org/officeDocument/2006/relationships/notesMaster" Target="/ppt/notesMasters/notesMaster1.xml" Id="Ra2056cab8ff74f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45794633aa4616" /><Relationship Type="http://schemas.openxmlformats.org/officeDocument/2006/relationships/notesMaster" Target="/ppt/notesMasters/notesMaster1.xml" Id="R4e5386e7783a4c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18f92f53874543" /><Relationship Type="http://schemas.openxmlformats.org/officeDocument/2006/relationships/notesMaster" Target="/ppt/notesMasters/notesMaster1.xml" Id="R0d687b694bf040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d4f3d5d9904189" /><Relationship Type="http://schemas.openxmlformats.org/officeDocument/2006/relationships/notesMaster" Target="/ppt/notesMasters/notesMaster1.xml" Id="Re99d84cc517d40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e30b5020c41b5" /><Relationship Type="http://schemas.openxmlformats.org/officeDocument/2006/relationships/notesMaster" Target="/ppt/notesMasters/notesMaster1.xml" Id="R4d537bb8ef2a4e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2a0b5322a44de4" /><Relationship Type="http://schemas.openxmlformats.org/officeDocument/2006/relationships/notesMaster" Target="/ppt/notesMasters/notesMaster1.xml" Id="R9bb7ae08e88e4d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1484cd0e6541a1" /><Relationship Type="http://schemas.openxmlformats.org/officeDocument/2006/relationships/notesMaster" Target="/ppt/notesMasters/notesMaster1.xml" Id="R8b510e8656b64b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25181a700c4474" /><Relationship Type="http://schemas.openxmlformats.org/officeDocument/2006/relationships/notesMaster" Target="/ppt/notesMasters/notesMaster1.xml" Id="Re00e2c9b935b49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61c9b917c041c1" /><Relationship Type="http://schemas.openxmlformats.org/officeDocument/2006/relationships/notesMaster" Target="/ppt/notesMasters/notesMaster1.xml" Id="Raf888b0fba524e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d081e1d77f4c9a" /><Relationship Type="http://schemas.openxmlformats.org/officeDocument/2006/relationships/notesMaster" Target="/ppt/notesMasters/notesMaster1.xml" Id="R7ad0f886614b4d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ed4cdbd96f42f4" /><Relationship Type="http://schemas.openxmlformats.org/officeDocument/2006/relationships/notesMaster" Target="/ppt/notesMasters/notesMaster1.xml" Id="Rb2aa0c29746d49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封面：强调项目不是通用聊天机器人，而是一门课做深的高数智能助教。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赛题理解：用矩阵展示要求和实现的一一对应，先建立评委的评分锚点。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痛点：用学习者视角说明为什么要做闭环，而不是只做聊天或资源生成。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项目定位：聚焦高数上，一门课做深，闭环比泛化功能更重要。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总体架构：展示端到端数据流，突出 Spark 主引擎和 Mock 兜底。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多智能体协作：每个 Agent 有明确职责，前端展示输入输出摘要。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画像：六维不是摆设，后续回答深度、资源偏好和路径都会读取画像。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RAG与防幻觉：明确回答如何绑定教材，失败如何兜底。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五类自动资源：提问后自动生成，不让学生再猜下一步。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错题闭环：不是跳错题本，而是先教会，再记录。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前端体验：展示当前交互如何服务主链路。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工程验证：不是靠口头保证，而是可重复检查。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评分映射：让评委看到每一分在哪里。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收束：说明后续方向，但强调当前版本已经可演示、可验证、可迭代。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85858fe8d43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7c828925064d46" /><Relationship Type="http://schemas.openxmlformats.org/officeDocument/2006/relationships/slideLayout" Target="/ppt/slideLayouts/slideLayout1.xml" Id="Rd02103f8bbe542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2103f8bbe542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044950060442e" /><Relationship Type="http://schemas.openxmlformats.org/officeDocument/2006/relationships/notesSlide" Target="/ppt/notesSlides/notesSlide1.xml" Id="Rbfda2046840a4d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fa752dbfc4271" /><Relationship Type="http://schemas.openxmlformats.org/officeDocument/2006/relationships/notesSlide" Target="/ppt/notesSlides/notesSlide2.xml" Id="R1c5b7d4130d444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a53b5a2d8449b" /><Relationship Type="http://schemas.openxmlformats.org/officeDocument/2006/relationships/notesSlide" Target="/ppt/notesSlides/notesSlide3.xml" Id="R8d2c7b413cdb4e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3a51af3474797" /><Relationship Type="http://schemas.openxmlformats.org/officeDocument/2006/relationships/notesSlide" Target="/ppt/notesSlides/notesSlide4.xml" Id="R3283443e561040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eb7caa6144716" /><Relationship Type="http://schemas.openxmlformats.org/officeDocument/2006/relationships/notesSlide" Target="/ppt/notesSlides/notesSlide5.xml" Id="Rde50372dccea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7fdeff8264532" /><Relationship Type="http://schemas.openxmlformats.org/officeDocument/2006/relationships/notesSlide" Target="/ppt/notesSlides/notesSlide6.xml" Id="R65d6a73977d94e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084b4bc294ba5" /><Relationship Type="http://schemas.openxmlformats.org/officeDocument/2006/relationships/notesSlide" Target="/ppt/notesSlides/notesSlide7.xml" Id="R63cfa34f01bd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1925d4cd74e41" /><Relationship Type="http://schemas.openxmlformats.org/officeDocument/2006/relationships/notesSlide" Target="/ppt/notesSlides/notesSlide8.xml" Id="R66c20c44f95946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7cf4d1a7947f9" /><Relationship Type="http://schemas.openxmlformats.org/officeDocument/2006/relationships/notesSlide" Target="/ppt/notesSlides/notesSlide9.xml" Id="R5230c13617df4b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06c90dcf84ddd" /><Relationship Type="http://schemas.openxmlformats.org/officeDocument/2006/relationships/notesSlide" Target="/ppt/notesSlides/notesSlide10.xml" Id="Rbf49e8013af542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a465d681b47a6" /><Relationship Type="http://schemas.openxmlformats.org/officeDocument/2006/relationships/notesSlide" Target="/ppt/notesSlides/notesSlide11.xml" Id="Rec984c4344604b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38b8c58314495" /><Relationship Type="http://schemas.openxmlformats.org/officeDocument/2006/relationships/notesSlide" Target="/ppt/notesSlides/notesSlide12.xml" Id="R26e27bed84f54c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0d1d7eadb4f3a" /><Relationship Type="http://schemas.openxmlformats.org/officeDocument/2006/relationships/notesSlide" Target="/ppt/notesSlides/notesSlide13.xml" Id="Ra1994cb1018744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9d97f0fa94465" /><Relationship Type="http://schemas.openxmlformats.org/officeDocument/2006/relationships/notesSlide" Target="/ppt/notesSlides/notesSlide14.xml" Id="R78a740ee70dd46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17BE92-030F-4BE3-BD08-6C9C1F07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1000F-04BE-4EF7-86C4-FBF47589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6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7F500-96C5-452C-9F8E-BECC76E0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904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基于大模型的《高等数学上册》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个性化学习资源多智能体系统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28A56-2C8F-4213-80B4-88B807B9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面向基础薄弱学生的可信问答、资源生成与学习闭环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5E83B-00BD-4123-A300-DFCB17C9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C2010-5727-406B-8185-2156C173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4FC"/>
                </a:solidFill>
                <a:latin typeface="Microsoft YaHei"/>
                <a:ea typeface="Microsoft YaHei"/>
                <a:cs typeface="Microsoft YaHei"/>
              </a:defRPr>
            </a:pPr>
            <a:r>
              <a:t>5类自动资源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158FE-5486-4F45-9730-2A29DA1D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提问即生成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27198-6ECB-47D4-9EC2-FBA9FD65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822DC-AC09-49DE-A42B-F1210F42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480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4FC"/>
                </a:solidFill>
                <a:latin typeface="Microsoft YaHei"/>
                <a:ea typeface="Microsoft YaHei"/>
                <a:cs typeface="Microsoft YaHei"/>
              </a:defRPr>
            </a:pPr>
            <a:r>
              <a:t>RAG 防幻觉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CDCD5-DB9C-468D-B1B0-C96C7C4E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教材可追溯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A77FA-79C6-45F7-B537-160A2D96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19B55-4DF2-4D3D-819D-A7414229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480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4FC"/>
                </a:solidFill>
                <a:latin typeface="Microsoft YaHei"/>
                <a:ea typeface="Microsoft YaHei"/>
                <a:cs typeface="Microsoft YaHei"/>
              </a:defRPr>
            </a:pPr>
            <a:r>
              <a:t>六维画像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37E72-93F1-4841-8BBA-06774736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33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随学随新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74815-9452-4F42-9095-FB766B56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t>中国软件杯 A3 赛题答辩 · FastAPI + LangGraph + Spark / Mock fallback</a:t>
            </a:r>
          </a:p>
        </p:txBody>
      </p:sp>
    </p:spTree>
    <p:extLst>
      <p:ext uri="{BB962C8B-B14F-4D97-AF65-F5344CB8AC3E}">
        <p14:creationId xmlns:p14="http://schemas.microsoft.com/office/powerpoint/2010/main" val="995165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035540-C7A5-43EB-8748-547DD48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赛题理解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5295C-6AFB-4143-8B90-93DED275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A3 不是堆功能，而是验证“个性化学习闭环”能否跑通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F0DAB-4FFB-4DBC-9FB5-D8428FC9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我们把要求拆成画像、资源、多智能体、防幻觉、可运行五个评分锚点。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0B452-49A2-4CF0-A28A-A63D2A85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B1DB2-5C09-4A13-918A-7B2FDF21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9D05D-74C0-413E-AB2A-AB6AEF4B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A656D-0EBF-4DB7-98A6-5C7952FE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C7708-9FA3-45F0-B9FD-2E9F45B6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6维画像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97D7E-ABEB-47C9-A260-353F369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445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对话 + 测验 + 错题自动更新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已展示证据与置信度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50A6D-A416-4C90-8B8E-C6CFADBD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79246-1487-4F27-A7C7-EE014DC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8D5C2-A6B6-4925-AF3C-21F98B2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5类资源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7AB62-02C7-4017-956E-DA689CC2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62175"/>
            <a:ext cx="445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导图 / 题 / 讲义 / 路径 / PPT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提问后自动生成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A3DFB-5224-42FB-83EA-85F9A1C9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B1542-669A-427D-9249-729E0E2C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26EFF-9BEE-49F5-BE31-BF3C78C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t>防幻觉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04AF2-3A95-47DD-9F56-C0906445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445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教材引用 + Verifier + 风险等级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下载文件保留依据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3A8C7-3786-4E13-814D-741A58BE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CAC9C-39C8-48C9-80C0-F377444E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15049-1E2D-4145-B960-3840C92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多智能体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67766-EF81-4C5D-98E2-55822FB0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19475"/>
            <a:ext cx="445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Tutor / Informer / Profile / Generator / Verifier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前端轨迹可见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BEE7D-6031-4720-919D-4357A1D7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5E8D6-C925-49A1-A99B-5B513A5D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D5227-2A8B-4241-82A6-EE0EF70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可运行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C5076-DCCD-44EF-A3A5-1559E0C7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76775"/>
            <a:ext cx="445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一键启动 + 免登录 + Mock 兜底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deep QA 固化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B59C77-48D5-4ADA-8E2A-66F13693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EE42D-FDE8-4D59-A510-28F9DAD5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0358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0A884A-E974-4FCB-B424-D003FE7A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30458-C726-496A-ADD0-A5C88F5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基础薄弱学生卡住的不是一个答案，而是一整条学习链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D3FCE-F911-4F8D-9599-EB7D200C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从不会问、找不到依据、做错不复盘，到不知道下一步学什么。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2AB41-A1BC-4AE4-971C-A6B1BEF7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176AF-9C92-4744-BDC1-690059A0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F565D-5694-4555-899D-0C92B52C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8C8F9-C452-4294-A239-91773B44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听不懂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EF1A3-B443-48AB-8CD9-C250606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0E019-EB40-4BF0-BF33-814F3091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课堂概念抽象，极限、导数、积分之间联系弱。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3B07C-990A-46C9-B517-257ADA12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2BC81-CE0A-4F31-98F6-2CBEDBB5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t>找不到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FE13F-82DC-48AC-B406-628B3786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19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85593-C936-4840-836D-64889273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教材页数多，定位一个知识点和对应条件成本高。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13A65-8095-4D59-B9CF-EB28A416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28379-3148-4563-A541-36F7BE68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t>错不明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6829D-4000-4669-B15D-EBCE239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19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32A1A-6DFD-4697-92E4-BDC687E1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错题只记答案，不知道错因来自定义、条件还是步骤。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D0F4E-5B01-4FAD-A96F-B2DAB6B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A19F0-1BEB-40FE-AC44-4CEACBF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不会走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826A0-3077-4372-AB94-9D134737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CED72-A2D4-497A-A9C0-A6E405F9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资源分散，讲义、导图、练习和学习路径不能联动。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54653-D13B-465A-99D8-8DDF535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设计原则：不要只回答“是什么”，要把一个问题推进到“怎么学、怎么练、怎么复盘”。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B7492-55E0-4CAB-969D-A7D4CAE9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02EA7-CA08-4918-8C5C-117F08FD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0682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E3D6C-C969-4842-9698-C0CF9884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4FFBB-3542-4415-B9AE-3BD06ECB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当前版本聚焦《高数上》：把一次提问变成完整学习闭环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E7709-6014-4D14-AF0C-7DB5921C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主链路覆盖提问、检索、回答、资源、练习、错题、画像和路径。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62DBD-81CD-4917-B8C7-2C873981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6B703-B8DA-423C-8147-9D050D8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1448E-DD14-4E71-B9CA-8579A260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DD2CB-BEB8-4491-9334-BB1AA55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提问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24696-ECB9-4368-9EEA-723EB637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76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79407-46A8-4073-8C01-6F37F78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6670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C62B6-113E-437F-B522-4345B358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575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教材检索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CF987-4899-42C5-B074-720766B7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76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C604E-343E-4118-85EB-06CF6BE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664B3-1B70-46A9-A7D5-750AF49C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可信回答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2DD9D-CF0F-4A97-A97A-92DACB17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50EB4-E3F9-4D1F-97D1-83175480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670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C4B51-08C1-49DD-A14C-80E2FFFD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575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D6492-07A3-4C3D-A1C0-0197781A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76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0DA32-143A-4661-ADBF-C8D60299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FBA8D-A286-49C4-AE7C-F3107FA4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做题反馈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A936F-1417-4046-8D58-F435CCE8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1C2CB-048A-43F8-8495-2FB10B95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670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C1DC1-6312-4E7C-8F7A-9A059F59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575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错题复盘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7A2D4-9EB4-4F51-9EDA-DD7802DD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76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F4207-B5A9-46F0-925B-B2A9FAEE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954E0-BBC4-4BC2-A8F2-A3B6B1D9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画像更新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B96F8-8502-482E-A4A6-A7605769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76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FB250-DC99-4568-B76F-B0AE4038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6670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E3CC52-AAE7-4A7F-AECF-5F7575E7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8575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路径调整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6C213A-982E-42B0-94F5-1AC8EC6E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B8148-3EC6-4E66-A032-C20EB7F1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演示问题固定为：我不懂函数极限，讲清定义、常见误区，并给一个例题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DE651-3EBE-4702-AAEE-2616888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A9756B-7F0C-4669-AAE2-4063B60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4946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0C4DB4-711E-4D0E-81A8-5650DF7A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2066F-6257-40BC-9F4F-A766DCE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静态工作台 + FastAPI 聚合 API + 多智能体 RAG，保证本地答辩稳定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0EFC2-0578-4E32-80DC-6746EDD5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Demo 入口固定 8010/5173，正式后端能力保留为后续增强。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5444E-1667-45F2-AF5F-60020E44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FA1CA-539D-4831-BE46-510EAE97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C07F7-7C86-43A0-B723-0B8CFB15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C3CE8-5BDE-48D8-AD67-1D34A3B5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DC698-7FC2-42C3-928B-108A0677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621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frontend-demo 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F3280-6444-4CC8-B350-2ADF9F71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 / 资源 / 错题 / 画像 / 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3648D-AD81-46DD-AD38-EBE0379A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027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CA738-39ED-4A7E-9128-83013DF3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E7AE9-4A3E-400E-841F-523E6313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7B45F-5409-4F51-BCF0-471EFFB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431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t>FastAPI Demo API :8010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15C22-24DE-4A2E-930C-8C8E8B72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/api/app/ask + /generate + /quiz/submit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5E917-8659-4B3B-848F-AE95C35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8132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67E3C-E168-467A-84BC-1FAEB8C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28975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5104B-AC43-442E-AAC0-43425019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2897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B9ACB-F17B-4FF6-A23A-8EFA60C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242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五个 Agent 协作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4273E-804A-4AC5-86B7-EBF477D1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242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Tutor / Informer / Profile / Generator / Verifier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BC5E2-F3E6-402D-BCD0-E80EE5C9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6237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315B9-5B94-4F5F-BF5A-062F268D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69728-4E40-44FB-9B1D-7D3EFAA1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0D6B7-FD2A-4A59-86E4-B4A8E86C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052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高数上课程知识库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63413-12B4-4938-B784-27DF7B07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0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教材章节、检索片段、引用依据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69091-CF0C-4173-BBB1-974D205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4342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6EA6E-67EE-4F1F-AF2D-ADA3A2CB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342D16-0B9A-4BAE-95BF-FE13E349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9900E5-A2A7-441A-84C3-EF213F0A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863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模型与兜底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381830-6BCE-4C96-A52B-68BEBEA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86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Spark 主引擎；DeepSeek / Mock 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FA523-AE5A-4599-86E0-3B3828DD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D0502-32A9-46F9-B46B-8ECDB12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3766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500CC-C04D-4C97-9918-04BC2AD7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多智能体协作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0B666-75AF-469D-9129-580624D5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五个 Agent 分工，让学习链路可解释、可追踪、可校验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A0B14-3D9A-495F-B4D4-1D2AAC28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评委能看到“谁检索、谁生成、谁验证、谁更新画像”。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42B0A-EC0B-4DA5-8B09-9DD60B96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CD378-DD6D-4F1E-8E15-8D9A3A24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A708A-58FB-49DA-BF75-C9A7417A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AE2F9-0258-4CB7-A04B-3B2D088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6C0A0-7D89-48A4-BBF2-3F89EAE7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Tutor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2FAB4-45E0-424A-90D0-F214021B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解析问题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组织学习目标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35BFB-B233-48E1-AB18-77863A8B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FC2E1-7DA2-41D1-9AF2-875CC06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CCC10-494D-472C-9F87-50426E25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90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A3CC3-0317-466C-8A4D-B0D0A7ED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52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t>Informer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D3643-AAFE-453E-893B-003F9286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813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定位章节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返回教材依据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31525-370C-4C26-A3D4-0589D3C2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1B77E-872C-490C-AAB9-5BB952D7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A3E6D-3FE0-4031-B797-875CE0E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4F7FC-36D1-4E66-A848-9408E945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52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0842B-11A1-4BAB-84AC-304AD085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813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识别基础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更新六维画像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42004-12FF-4264-A466-89AE2AC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AB51C-A190-4EAD-A37C-57C3ABA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00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2BE85F-CC45-42F7-93DA-5C874C1C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4C8A2-6F81-46D6-9D21-DA13B287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52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Generator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4CFA3-872A-458C-9B9F-48B76AC6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813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生成五类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个性化资源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096F7-C6F3-4413-88A6-A64CDB6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F8C76-C831-4265-80C9-76260E6D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C1A6C-8534-4AED-872E-5917A735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33FEF-BCEA-4FF7-935C-0AA6BE23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52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85729-8FC6-4787-9F7D-CC736B9D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校验引用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风险与安全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0CF8E4-5629-47C9-A71E-D8319088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11D88D-5644-4E50-9E33-71F3EF81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92D99-B02A-43D8-ABB4-603125B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67225"/>
            <a:ext cx="788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前端可视化证据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26B3A9-560D-434B-86D5-3283328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81550"/>
            <a:ext cx="788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agent、phase、status、summary、latency_ms 均进入响应；右侧面板同步展示课程依据、fallback 状态和风险等级。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21223F-962B-4079-8283-D7064431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CBA489-13A0-4A85-81C9-D14C17F0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0662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9A5E3-618A-4C78-981C-FA62C07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六维学习画像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43E52-31F2-49C8-AD8D-7E0E4BD6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画像从对话和答题中自动更新，并反向影响资源生成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4D42E-DC00-4E66-AC74-73B601B9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展示证据来源、置信度和画像版本，避免“贴标签式画像”。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3DD4D-C0A4-41A2-92EB-C43BF070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B226E-5287-4ABD-ABF6-868A3678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12427-F308-4145-88FD-7472DD95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55688-404F-46B2-80C8-449B9D9E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4E5C2-7DD0-4736-B28A-3CB8D9B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5F6A5-678E-41E7-A82D-061EED7D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0275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极限定义与条件理解偏弱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94BA4-A0E5-439F-B8EF-6C91744D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45427-23BD-4DC0-B789-EEB6507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3B585-6B75-474A-B550-F736214A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99E3A-E46E-4BC1-A319-8674351A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0275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期末复习与概念补漏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BD492-DFA4-46CF-A941-D03117B9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13715-B320-4198-A74C-21415BF2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19122-15C4-46A5-8AAA-36B4C30D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t>认知风格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B0746-A25C-464A-A036-1388DACA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0275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偏好图解 + 步骤化推导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0011E-1FDC-4AE7-A7AE-BCCDBE41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3A71E-9B07-4AB5-B345-9E2803F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68C3A-C26C-4493-9534-418941B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t>薄弱点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E7708-54B0-4450-A6E6-FF019AB5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左右极限、定义量词、换元条件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E912D-FF58-466E-A8F2-6C8FD760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B5AAE-BF31-486B-A348-59DEB11A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02032-6753-48E9-AA10-2D44150E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资源偏好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E54FA-3238-4003-836C-2E2BC56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52825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讲义、导图、巩固题优先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0DC64-EEBF-445B-8A32-777FE5D8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470B8-10FD-4D95-9453-B06EA455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382ACE-7892-41D0-BBEB-DCD801F6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情绪/信心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1CDB8-430E-4F52-9723-635EA049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52825"/>
            <a:ext cx="274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容易被抽象符号劝退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6C826B-1C71-4F21-ADE7-94B0E896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证据：最近提问 + 练习选项 + 错题原因；置信度随交互增加而提升。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BDB67-8BBA-423C-B455-1AE5BA7E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39E9A-2124-4680-B903-3C3F628D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3689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4534F7-C79D-48EE-8823-980D9D16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RAG 与防幻觉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028B5-3BDD-4C9E-91B8-C2FA2298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每次回答和资源都保留教材依据、Verifier 结论和风险等级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65E1E-747B-4828-86A0-D4FA238C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真实模型失败时显示 fallback 原因，不伪装成真实调用。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5F507-A31E-43A0-8A32-508F4AE0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CC0D1-F9C9-4786-9C9B-187A8ADD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F2D01-A0DE-4BE9-8C8C-E17FC46A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A6873-6FE4-4F95-9E0A-A265831E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t>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437C2-66D8-4E6C-8825-DA67EBCA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高数上.pdf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章节与片段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C2FE0-98C9-4F19-9979-C0F88D2E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DA3DC-3475-4600-9429-F1A44A42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90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21CBB-6DBE-486F-9727-16C44D58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3812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7C260-31AD-46CC-BF0C-298A1377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81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Spark / Mock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教学化回答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ACCAF-5C63-4CD8-8294-F7C08F77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2890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C04BA-3FE5-46A0-ACC1-BAB6FE89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B0695-5473-46BE-BA5D-F1C88C25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91337-866D-4AFD-9114-C82366B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Verifier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引用覆盖/风险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ED64D-332D-42EB-B83E-1129A127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40889-D53B-41A3-A342-25276B92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95B87-E7BE-4C63-A2F8-3AF958AE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812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呈现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3243B-95BE-4634-ADF4-1FE28CE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81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右侧可信度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下载文件留痕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ACF50-DDA8-47AB-BD7A-74A2D23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5B5DA-126D-4C59-8D3A-596DA91F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88BBF-4860-4114-9B47-77514D00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1960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可信度面板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D03BC-4DC5-442C-8CB0-2AEDF48A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33925"/>
            <a:ext cx="3695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grounding_score、risk_level、content_safety、model_source、fallback_reason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27BE4-1240-4D2B-8698-DFEE102B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08DB6-44B4-4A8F-B501-C0A7D7D8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0183C-85CC-4BCB-AC50-3BC7CCDD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下载留痕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708D38-691B-484A-8C12-0339C573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33925"/>
            <a:ext cx="3695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教材定位、生成来源、Verifier、证据片段随资源一起下载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FF7424-E178-4C8D-8604-7EF82ACF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1F2061-3947-40D0-83F5-AB1BF970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1760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0894D9-9BA6-43EA-8825-557FD648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五类自动资源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B4C89-DF1D-4A69-936D-6C9497B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系统把“函数极限”自动拆成看、学、练、复盘、讲课五种材料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48303-EDD2-40CF-BD9A-0148539C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资源共享 question + answer + retrieved_chunks + profile + wrong_history 输入。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E164E-4D2F-4F3E-9D7E-4E2BB4C5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EFA54-7927-4203-ACBD-CC2EEEC6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EE69C-29A4-4470-A122-15247213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866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64313-BA78-44A7-8C26-6887386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7BBA3-7ABE-4F7A-BE26-F535BC7E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思维导图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2BB0B-AC26-4B7F-A4BA-A644206A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A11D4-1ADE-47F6-BD91-9EF3B1CA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可读知识树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Mermaid 备份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B2078-4F75-42BF-BB21-6754D7CE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1866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76076-EC23-4B0D-A596-B4A9EB92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24417-68ED-4F2C-926F-127C042C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431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练习题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BFFDD-41E9-4C02-935C-A1D21EB6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0F700-177E-43B4-8DF5-9E67779D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同主题选择题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详细解析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B22E6-7E8D-4C74-9E53-E41EB2D3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1866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46EAF-0346-4162-A739-913D7F0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7914D-9045-4157-8F08-1A5D9D8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学习讲义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F3FC4-076C-4E05-B5AF-E00154B8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10289-FD1D-41E4-B76B-EC39502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误区诊断到自测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面向不会学生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93096-4C03-443A-BE16-CBCF1438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866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C6E21-49DF-4F4E-BD0D-3B6311ED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A3E4D-28B1-4AF2-9B04-F44E30A5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431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890BA-A0A1-46C2-82AC-B98E9097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696AD-FB9D-4B56-818E-3FE96B0D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原因/资源/时间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检验标准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A8C24B-AAB5-4F86-84F7-6E6A53A3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866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C7DE4-5A54-4572-A154-87B8C9CD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86A39-BF64-448C-9E58-4F26EDE4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Markdown PPT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F4731-B79F-4069-B52C-114A5F90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D8086-DEF5-4105-AD9C-6B219D43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讲稿/板书/例题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稳定下载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0CECFC-ECCB-4549-8765-5CA9A739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FD1CF-CD2A-465B-8FF8-A66378DA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25761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08009-A941-4CF3-AA4D-33CB37CE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错题与学习效果闭环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94EDD-0788-407B-AE9C-A3ECF43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答错后原地解释，再写入错题本、掌握度和学习路径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97A7D-DFCE-4026-B04D-3211E833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错因成为下一轮资源生成和路径调整的输入。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4BAC4-C0E3-4229-A8C9-1EC276BB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B3810-8596-4D3D-85DA-011F16B0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96ACF-D69B-4FF4-B92D-61346876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504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4622F-CFB0-4F68-8CC7-66E8B210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t>选错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DAF17-19E6-485D-9B98-51A6BFBC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学生选中</a:t>
            </a:r>
          </a:p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典型误区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E7CA5-EA67-48EC-922B-0575326F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9C393-CDB8-446D-8E36-39488596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86000"/>
            <a:ext cx="1504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43635-F555-4554-B08F-723808A4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574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30D1A-2B0E-4770-98EA-5F1FBFB4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765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为什么错</a:t>
            </a:r>
          </a:p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正确思路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382D9-FB09-4CB6-9DD0-752F51D8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41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76300-DCBE-4658-98D1-C72B7B2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504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FB1BB-7746-4F71-BF06-1656444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574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21189-1C04-4174-9276-91653AD8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写入错题本</a:t>
            </a:r>
          </a:p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错因分类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953FD-5CE4-49E3-BABF-4EE1E362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37E59-37F9-43E6-A6A0-8D3ED279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86000"/>
            <a:ext cx="1504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874C7-F767-4134-BD29-D4CC6B94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574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9D7B2-0BB0-4467-9EC8-EDC30FD9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765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掌握度下降</a:t>
            </a:r>
          </a:p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画像变化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1799B-831D-444F-8633-D594D66B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241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BE0AE-F735-40F0-83E8-9BE2A135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1504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4F718-05CF-43E8-B5B0-94522BCD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调整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770B2-C9A8-435D-8DB0-B82AC16D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765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复习路径</a:t>
            </a:r>
          </a:p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配套练习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4FF50-DFD4-4224-B49D-376C9CA5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价值：错题不再是结果页，而是个性化学习系统的下一次输入。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FF84CB-D025-4184-8B48-06362BE7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E0E6A-4072-48DA-BEE1-40977E27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3008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08134-E651-49EB-8792-26303817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前端体验设计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7CD13-CFCE-41DB-A924-7E81EB18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三栏工作台把对话、资源和可信依据放在同一屏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D12F5-BFC7-48DD-A03D-8E61AEFE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用户不需要理解 Agent，只要提问、看资源、做题、复盘。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97ECC-FCF5-4D27-AE62-A624D91A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E13C0-5C4F-4661-9E22-6C2FB5DA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73AB8-67AF-4C5F-A12D-2FDCFF85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870AA-0E9E-40A5-BE9F-B90AD9A7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会话中心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95E52-400A-4623-86CE-8C7C439D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学生自然语言提问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回答展示教材依据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下方保留快捷资源入口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33DE2-4D0B-425E-B590-D72DE9F6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09750"/>
            <a:ext cx="45243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262EA-9D23-4237-970D-4D62663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Artifacts 预览区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A8F19-DDCF-47A2-9465-1E9997DC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7650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C352E-C36D-4D7F-9BD3-751471A8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33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思维导图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21D83-89A9-4F06-B0D3-A93278C1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7065E-7928-4762-81DC-961B4BF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练习题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C7DEB-DABC-4390-89BB-B19F1D2D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E6BB1-0712-4C59-8804-A3A84B11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33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讲义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B5EF9-6E83-4F2E-B7DA-98C392B1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3FC4C-83F9-4E29-B98F-78A6D81D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33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PPT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79657-D3AD-4B32-97C4-9383C38C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FDA9C-9F7B-4877-9CB7-B129B2C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33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229D5-29A5-4DDD-8EA6-BF04257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3762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默认可读知识树 / 原地错题讲解 / Markdown 教学稿 / 动态学习路径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4A051-5D6B-4486-9ED2-66D72365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8098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D92AE-433E-477C-8324-4DB8CF0B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右侧可信面板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7F2FA-1D21-4B6E-817F-8A3A8C65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课程依据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模型状态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轨迹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画像摘要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资源包质量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E1941-F461-44B8-8F8F-3529CE0D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50888-6106-4A2B-AAA2-90187590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2230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529F79-7CD5-4A4E-8FB7-47424A5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8FDFE-C4F5-4E7E-84AE-ED12D321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把用户反复指出的问题固化成 smoke、deep QA 和 GitHub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1BC2C-F0DB-4107-B05D-5D7F2A13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本地深检覆盖主链路，云端 CI 控制基础质量和敏感信息。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A5F72-81EF-4C24-BAA6-C8B33FA6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1D37F-B992-4A3A-AA3B-2B5DE7B2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CD466-086D-498F-8783-3C26CFBF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EE924-C259-41E3-B24D-D8680A8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2DF26-C2CB-41D8-9FCF-512E679E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 P0 Smoke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6279B-7CD6-4E0C-AFD9-77CEB1F2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57425"/>
            <a:ext cx="445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健康检查、免登录、设置、资源中心、学习报告、问答可信字段、quiz mastery。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C4B1B-BE54-4A54-8C62-C71A7A02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DB984-ECD3-4973-90B1-85C73CB1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9C35E-9916-44E7-9BDA-7D0293B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Deep 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0061D-D21A-4FAD-AACD-DFB88080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86175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固定高数问题 -&gt; 五类资源 -&gt; 下载 -&gt; 错题反馈 -&gt; Verifier -&gt; 敏感信息扫描。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013A3-48D6-42A1-AB53-B7F885E0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AB4A6-6997-4A7A-B538-3408A437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ED3C4-DAB6-42F0-814F-EFE2030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GitHub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3BE98-C6C2-4C3D-9B7F-E4885474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57425"/>
            <a:ext cx="4076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Python 语法、前端 JS 语法、敏感信息扫描。CI 不调用真实模型。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02E00-2F62-4CF2-9E8C-4A8AEEBD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381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A1D95-C216-4AA7-8582-92D1381D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3855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0F2FE"/>
                </a:solidFill>
                <a:latin typeface="Consolas"/>
                <a:ea typeface="Consolas"/>
                <a:cs typeface="Consolas"/>
              </a:defRPr>
            </a:pPr>
            <a:r>
              <a:t>python scripts/deep_qa_check.py</a:t>
            </a:r>
          </a:p>
          <a:p xmlns:a="http://schemas.openxmlformats.org/drawingml/2006/main">
            <a:pPr algn="l">
              <a:defRPr sz="1650" b="0">
                <a:solidFill>
                  <a:srgbClr val="E0F2FE"/>
                </a:solidFill>
                <a:latin typeface="Consolas"/>
                <a:ea typeface="Consolas"/>
                <a:cs typeface="Consolas"/>
              </a:defRPr>
            </a:pPr>
            <a:r>
              <a:t>=== DEEP QA PASSED ===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2E600-A121-43AA-888C-49332C17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FFE53-DA61-4D85-9CD1-8869D3D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384274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A7E85-3F59-4257-A915-3458D84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评分项对应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3E534-67BD-4AD9-8751-32A2EF3E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答辩材料按 35% + 45% + 10% + 10% 映射到可展示证据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EE2FF-A2BE-4CF4-9234-A2CC5A00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不是泛泛讲技术，而是逐项对评分要求给证据。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AC53C-3798-4DF4-9F5B-7EA0E7E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D1365-EA4D-49FD-8F6A-E0E00B85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0BF96-A403-4EB8-9FB2-0B899377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创新价值与实用性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39974-4392-4E17-B8D1-143C813E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69817-7313-4678-A947-8748D467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385233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5AC71-AF64-4528-A3EB-40611070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81EB1-D482-4099-A6CD-C18CC8BA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高数学习闭环、错因驱动路径、画像随学随新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1832B-2268-4E82-AEC3-032B3672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功能实现与技术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01DC6-BCA6-4BF6-B391-B700244B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408B7-8BF6-4F99-AEBF-C6657FC9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6A1E5-2596-4C14-909F-BC8B0E7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45%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25192-B725-4CE9-A4C0-9F777C51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14625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多 Agent、RAG、防幻觉、5类资源、下载、报告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A9E30-5D49-4EE0-A248-BFA43A92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1D3C7-89B2-4CDA-AE50-A6FA17B0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76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12B7D-C2DC-48A1-A86D-A4A0B02D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76650"/>
            <a:ext cx="110066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178F8-26F7-4385-A33C-4571C2ED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6699C-B0F3-46ED-B06A-1173F27D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README、RUNBOOK、脚本、开源说明、AI Coding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C72B4-15A7-46DC-B188-5CB0B9C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演示/PPT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E79A5-D22D-46FC-BB62-CB4CD0D3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815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032AA-A788-416D-B8D3-89F91324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81525"/>
            <a:ext cx="110066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48FF1-57F6-4975-A953-E52C1BD0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2437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t>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1211B-2A5A-49F7-915E-7D39CE22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7分钟脚本、一键启动、稳定 fallback、正式答辩 PPT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BEEE6-4183-4697-B448-BEE6B1AE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17FE5-0FA3-48DD-9E1D-ECCF99C8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60952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BCD4B4-EDD0-49E1-883C-32085D42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后续方向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7AFFE-27C7-400F-8FEC-72A487E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先把一门高数课做深，再扩展到多课程和教师端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D5594-C3BB-4195-AFDB-56C7B54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当前版本优先交付可运行、可验证、可答辩的学习闭环。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1DFDF-D3F9-4658-A7D8-2FC942CF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A3 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C3DD5-339C-428C-AB06-C4E9BF29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C8166-57D8-4B60-8A9C-2A6F48D8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55BB1-E5C3-41FC-9CC2-542BA920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1C5C7-BBBB-4EE2-95A6-A43D0844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defRPr>
            </a:pPr>
            <a:r>
              <a:t>短期：答辩交付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A5BE9-ACB7-4FEE-87F1-7BCB83E3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47925"/>
            <a:ext cx="2743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单次真实 Spark 联调截图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录制 7 分钟演示视频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答辩机器复跑 smoke + deep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4D115-29D3-4841-ADA4-C67DA934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B1157-0020-4AF2-AC9C-0204D7C5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B4C20-0B65-4B96-8B68-BA52A0D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336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t>中期：工程增强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856BE-23B8-4DE5-A4DA-6B79E2E5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47925"/>
            <a:ext cx="2743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异步生成任务进度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更多真实 OCR/RAG 片段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学习报告趋势图增强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06AC6-E3FA-4021-9277-D1A11A1E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CC36D-6CC0-4477-9B81-831B2CB3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5BA2F-2B8D-4A7C-A615-727C704F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t>长期：产品扩展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D8CB4-8311-49C2-911D-C3754B86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2743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视频分镜生成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教师端班级分析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多课程知识库扩展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A8C1C-BD42-4D98-A2B9-15E30950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结论：本项目用多智能体 + RAG + 学习画像，把“问一个问题”变成“完成一次学习”。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32E59-EF67-4D90-B566-7D0FD6A7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智学工坊 · 高数上课程智能助教 · Spark / Mock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D8744-9BFF-4679-905F-008FD0FB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9423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2026-06-10T01:29:36.8130000Z</dcterms:created>
  <dcterms:modified xsi:type="dcterms:W3CDTF">2026-06-10T01:29:36.8130000Z</dcterms:modified>
</coreProperties>
</file>